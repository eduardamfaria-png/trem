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de37aeae-c07f-5401-92c3-714ed4fdd346/d57dab71-im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78040" y="0"/>
            <a:ext cx="501091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2103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DE PERCEPÇÃO DO CONSUMIDOR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5146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10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CACAU RARO</a:t>
            </a:r>
            <a:endParaRPr lang="en-US" sz="5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65760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Coleção Origem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3434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embalagem premium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chocolate artesanal brasileiro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CONCEITO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Descrição da embalagem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decisões, um único conceito.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48640" cy="548640"/>
          </a:xfrm>
          <a:prstGeom prst="rect">
            <a:avLst/>
          </a:prstGeom>
          <a:solidFill>
            <a:srgbClr val="3C2A1C"/>
          </a:solidFill>
          <a:ln w="12700">
            <a:solidFill>
              <a:srgbClr val="9C7C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939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45973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soft touch, toque aveludado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72968"/>
            <a:ext cx="548640" cy="548640"/>
          </a:xfrm>
          <a:prstGeom prst="rect">
            <a:avLst/>
          </a:prstGeom>
          <a:solidFill>
            <a:srgbClr val="3C2A1C"/>
          </a:solidFill>
          <a:ln w="12700">
            <a:solidFill>
              <a:srgbClr val="9C7C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172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11810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48386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Caixa-livro, abre como um estojo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97096"/>
            <a:ext cx="548640" cy="548640"/>
          </a:xfrm>
          <a:prstGeom prst="rect">
            <a:avLst/>
          </a:prstGeom>
          <a:solidFill>
            <a:srgbClr val="3C2A1C"/>
          </a:solidFill>
          <a:ln w="12700">
            <a:solidFill>
              <a:srgbClr val="9C7C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197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1422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Acabamento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450799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stamping dourado + minimalismo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221224"/>
            <a:ext cx="548640" cy="548640"/>
          </a:xfrm>
          <a:prstGeom prst="rect">
            <a:avLst/>
          </a:prstGeom>
          <a:solidFill>
            <a:srgbClr val="3C2A1C"/>
          </a:solidFill>
          <a:ln w="12700">
            <a:solidFill>
              <a:srgbClr val="9C7C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5221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51663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Tipografia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55321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Serifada fina, inspirada em vinhos</a:t>
            </a:r>
            <a:endParaRPr lang="en-US" sz="1300" dirty="0"/>
          </a:p>
        </p:txBody>
      </p:sp>
      <p:pic>
        <p:nvPicPr>
          <p:cNvPr id="21" name="Image 0" descr="/root/.claude/uploads/de37aeae-c07f-5401-92c3-714ed4fdd346/79f8e012-im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1463040"/>
            <a:ext cx="5394960" cy="489204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172200" y="64190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Caixa-livro · Coleção Origem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 VISUAL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Paleta de cores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06040" cy="402336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20240"/>
            <a:ext cx="2606040" cy="2377440"/>
          </a:xfrm>
          <a:prstGeom prst="rect">
            <a:avLst/>
          </a:prstGeom>
          <a:solidFill>
            <a:srgbClr val="3C2A1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448056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Marrom-café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50749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Tradição e autenticidade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02152" y="1920240"/>
            <a:ext cx="2606040" cy="402336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9" name="Shape 7"/>
          <p:cNvSpPr/>
          <p:nvPr/>
        </p:nvSpPr>
        <p:spPr>
          <a:xfrm>
            <a:off x="3502152" y="1920240"/>
            <a:ext cx="2606040" cy="2377440"/>
          </a:xfrm>
          <a:prstGeom prst="rect">
            <a:avLst/>
          </a:prstGeom>
          <a:solidFill>
            <a:srgbClr val="0E0B09"/>
          </a:solidFill>
          <a:ln w="15875">
            <a:solidFill>
              <a:srgbClr val="9C7C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448056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Preto fosco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50749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Exclusividade e alto padrão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64224" y="1920240"/>
            <a:ext cx="2606040" cy="402336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13" name="Shape 11"/>
          <p:cNvSpPr/>
          <p:nvPr/>
        </p:nvSpPr>
        <p:spPr>
          <a:xfrm>
            <a:off x="6364224" y="1920240"/>
            <a:ext cx="2606040" cy="2377440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65392" y="448056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Dourado envelhecido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65392" y="50749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Prestígio e qualidade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226296" y="1920240"/>
            <a:ext cx="2606040" cy="402336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17" name="Shape 15"/>
          <p:cNvSpPr/>
          <p:nvPr/>
        </p:nvSpPr>
        <p:spPr>
          <a:xfrm>
            <a:off x="9226296" y="1920240"/>
            <a:ext cx="2606040" cy="2377440"/>
          </a:xfrm>
          <a:prstGeom prst="rect">
            <a:avLst/>
          </a:prstGeom>
          <a:solidFill>
            <a:srgbClr val="D8CB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427464" y="448056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Bege / creme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427464" y="50749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artesanal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 VISUAL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Tipografia serifada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04288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2140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contraste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7860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Luxo e sofisticação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80760" y="2304288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212140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Clássica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57860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Tradição e confiança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904488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72160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 e delicada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17880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Exclusividade e refinamento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80760" y="3904488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372160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Tracking alto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17880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Minimalismo premium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Formato e variações</a:t>
            </a:r>
            <a:endParaRPr lang="en-US" sz="3400" dirty="0"/>
          </a:p>
        </p:txBody>
      </p:sp>
      <p:pic>
        <p:nvPicPr>
          <p:cNvPr id="4" name="Image 0" descr="/root/.claude/uploads/de37aeae-c07f-5401-92c3-714ed4fdd346/79f8e012-im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5577840" cy="4480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05332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Caixa-livro — conceito principal</a:t>
            </a:r>
            <a:endParaRPr lang="en-US" sz="1350" dirty="0"/>
          </a:p>
        </p:txBody>
      </p:sp>
      <p:pic>
        <p:nvPicPr>
          <p:cNvPr id="6" name="Image 1" descr="/root/.claude/uploads/de37aeae-c07f-5401-92c3-714ed4fdd346/86f5b12e-imag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463040"/>
            <a:ext cx="5029200" cy="2148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37960" y="3703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Caixa gaveta — ritual de abertura</a:t>
            </a:r>
            <a:endParaRPr lang="en-US" sz="1350" dirty="0"/>
          </a:p>
        </p:txBody>
      </p:sp>
      <p:pic>
        <p:nvPicPr>
          <p:cNvPr id="8" name="Image 2" descr="/root/.claude/uploads/de37aeae-c07f-5401-92c3-714ed4fdd346/b1c98ad1-imag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37960" y="4206240"/>
            <a:ext cx="5029200" cy="1828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537960" y="6126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Caixa com janela — revela e desperta curiosidade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PERCEPÇÃO DO CONSUMIDOR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Sensações e associações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210312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Exclusividade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401568" y="2103120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66160" y="210312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Tradição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63056" y="2103120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27648" y="210312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Sofisticação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924544" y="2103120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089136" y="210312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Ritual de abertura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913632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3913632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Artesanalidade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401568" y="3913632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66160" y="3913632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Curiosidade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63056" y="3913632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27648" y="3913632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Desejo de descoberta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24544" y="3913632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89136" y="3913632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Confiança na qualidade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JUSTIFICATIVA ESTRATÉGICA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isso influencia o consumidor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210312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2140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7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7860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Percepção do produto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307238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43000" y="294436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escura + soft touch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43814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43000" y="33101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stamping dourado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920240"/>
            <a:ext cx="5257800" cy="210312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212140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7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7860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Interpretação da qualidade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46520" y="307238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75120" y="294436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Minimalismo na frente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46520" y="343814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75120" y="33101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Tipografia de vinhos premium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251960"/>
            <a:ext cx="5257800" cy="210312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4531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7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9103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Lembrança da marca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14400" y="540410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43000" y="5276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“livro” incomum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576986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43000" y="56418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Semente de cacau dourada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4251960"/>
            <a:ext cx="5257800" cy="210312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44531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7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9103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Atração à compra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46520" y="540410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5276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 gaveta/janela = descoberta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46520" y="576986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75120" y="56418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com frase de propósito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de37aeae-c07f-5401-92c3-714ed4fdd346/d57dab71-im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0" y="22860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532120" y="269748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Embalagem como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primeira experiência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marca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577840" y="4709160"/>
            <a:ext cx="5806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consumidor decide que o chocolate é premium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provar o primeiro pedaço.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61722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  ·  COLEÇÃO ORIGEM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2026-09-15T02:13:17Z</dcterms:created>
  <dcterms:modified xsi:type="dcterms:W3CDTF">2026-09-15T02:13:17Z</dcterms:modified>
</cp:coreProperties>
</file>