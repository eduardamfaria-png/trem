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de37aeae-c07f-5401-92c3-714ed4fdd346/d57dab71-im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0"/>
            <a:ext cx="50109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03720" y="0"/>
            <a:ext cx="457200" cy="6858000"/>
          </a:xfrm>
          <a:prstGeom prst="rect">
            <a:avLst/>
          </a:prstGeom>
          <a:solidFill>
            <a:srgbClr val="17110D">
              <a:alpha val="8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77240" y="1965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DE PERCEPÇÃO DO CONSUMIDOR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377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CACAU RARO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520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Coleção Origem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95528" y="4160520"/>
            <a:ext cx="1005840" cy="0"/>
          </a:xfrm>
          <a:prstGeom prst="line">
            <a:avLst/>
          </a:prstGeom>
          <a:noFill/>
          <a:ln w="15875">
            <a:solidFill>
              <a:srgbClr val="9C7C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343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embalagem premium para maximizar a percepção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 de uma nova marca de chocolate artesanal brasileiro.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Artesanal Brasileiro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50" kern="0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Descrição geral da embalagem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decisões de design trabalham juntas para transmitir exclusividade, tradição, sofisticação, elegância e qualidade.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66928" cy="566928"/>
          </a:xfrm>
          <a:prstGeom prst="ellipse">
            <a:avLst/>
          </a:prstGeom>
          <a:solidFill>
            <a:srgbClr val="3C2A1C"/>
          </a:solidFill>
          <a:ln w="12700">
            <a:solidFill>
              <a:srgbClr val="9C7C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13432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24328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rígida revestida com papel texturizado “soft touch”, com sensação aveludada e sofisticada ao toque.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566928" cy="566928"/>
          </a:xfrm>
          <a:prstGeom prst="ellipse">
            <a:avLst/>
          </a:prstGeom>
          <a:solidFill>
            <a:srgbClr val="3C2A1C"/>
          </a:solidFill>
          <a:ln w="12700">
            <a:solidFill>
              <a:srgbClr val="9C7C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00984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11880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retangular alta, inspirada em um livro, que abre como um estojo; chocolates sobre bandeja interna de papel kraft.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3C2A1C"/>
          </a:solidFill>
          <a:ln w="12700">
            <a:solidFill>
              <a:srgbClr val="9C7C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288536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Acabamento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99432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stamping em dourado envelhecido na logo e no contorno minimalista de uma semente de cacau; frente com poucas informações.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340096"/>
            <a:ext cx="566928" cy="566928"/>
          </a:xfrm>
          <a:prstGeom prst="ellipse">
            <a:avLst/>
          </a:prstGeom>
          <a:solidFill>
            <a:srgbClr val="3C2A1C"/>
          </a:solidFill>
          <a:ln w="12700">
            <a:solidFill>
              <a:srgbClr val="9C7C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340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276088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Tipografia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586984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serifada, fina e espaçada, inspirada em identidades de marcas premium de vinhos e destilados.</a:t>
            </a:r>
            <a:endParaRPr lang="en-US" sz="1200" dirty="0"/>
          </a:p>
        </p:txBody>
      </p:sp>
      <p:pic>
        <p:nvPicPr>
          <p:cNvPr id="21" name="Image 0" descr="/root/.claude/uploads/de37aeae-c07f-5401-92c3-714ed4fdd346/79f8e012-im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600200"/>
            <a:ext cx="2880360" cy="44348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732520" y="61081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Caixa-livro — Coleção Origem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CACAU RARO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50" kern="0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Paleta de cores e significado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 foi escolhida por uma associação psicológica específica, já consolidada em marcas de alto padrão.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3383280"/>
          </a:xfrm>
          <a:prstGeom prst="rect">
            <a:avLst/>
          </a:prstGeom>
          <a:solidFill>
            <a:srgbClr val="2B1D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2606040" cy="1737360"/>
          </a:xfrm>
          <a:prstGeom prst="rect">
            <a:avLst/>
          </a:prstGeom>
          <a:solidFill>
            <a:srgbClr val="3C2A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416052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Marrom-café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6177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Tradição, autenticidade e chocolate de qualidade.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3774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#3C2A1C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02152" y="2286000"/>
            <a:ext cx="2606040" cy="3383280"/>
          </a:xfrm>
          <a:prstGeom prst="rect">
            <a:avLst/>
          </a:prstGeom>
          <a:solidFill>
            <a:srgbClr val="2B1D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2286000"/>
            <a:ext cx="2606040" cy="1737360"/>
          </a:xfrm>
          <a:prstGeom prst="rect">
            <a:avLst/>
          </a:prstGeom>
          <a:solidFill>
            <a:srgbClr val="0E0B09"/>
          </a:solidFill>
          <a:ln w="15875">
            <a:solidFill>
              <a:srgbClr val="9C7C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416052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Preto fosco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46177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Exclusividade, sofisticação, elegância e alto padrão.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3774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#0E0B09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64224" y="2286000"/>
            <a:ext cx="2606040" cy="3383280"/>
          </a:xfrm>
          <a:prstGeom prst="rect">
            <a:avLst/>
          </a:prstGeom>
          <a:solidFill>
            <a:srgbClr val="2B1D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2286000"/>
            <a:ext cx="2606040" cy="173736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65392" y="416052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Dourado envelhecido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46177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Exclusividade, prestígio e qualidade percebida.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23774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#C6A15B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26296" y="2286000"/>
            <a:ext cx="2606040" cy="3383280"/>
          </a:xfrm>
          <a:prstGeom prst="rect">
            <a:avLst/>
          </a:prstGeom>
          <a:solidFill>
            <a:srgbClr val="2B1D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2286000"/>
            <a:ext cx="2606040" cy="1737360"/>
          </a:xfrm>
          <a:prstGeom prst="rect">
            <a:avLst/>
          </a:prstGeom>
          <a:solidFill>
            <a:srgbClr val="D8CBB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27464" y="416052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Bege / creme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46177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Tradição, refinamento e aspecto artesanal — cor de contraste.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427464" y="23774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#D8CBB0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CACAU RARO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50" kern="0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Tipografia serifada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de uma família serifada, fina e espaçada aproxima a marca dos códigos visuais de vinhos e destilados premium.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074920" cy="1874520"/>
          </a:xfrm>
          <a:prstGeom prst="rect">
            <a:avLst/>
          </a:prstGeom>
          <a:solidFill>
            <a:srgbClr val="2B1D14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587752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4963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Serifada de alto contraste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53512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Elegância, tradição e sofisticação — remete a marcas de luxo, vinhos e perfumaria.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331720"/>
            <a:ext cx="5074920" cy="1874520"/>
          </a:xfrm>
          <a:prstGeom prst="rect">
            <a:avLst/>
          </a:prstGeom>
          <a:solidFill>
            <a:srgbClr val="2B1D14"/>
          </a:solidFill>
          <a:ln/>
        </p:spPr>
      </p:sp>
      <p:sp>
        <p:nvSpPr>
          <p:cNvPr id="10" name="Shape 8"/>
          <p:cNvSpPr/>
          <p:nvPr/>
        </p:nvSpPr>
        <p:spPr>
          <a:xfrm>
            <a:off x="6291072" y="2587752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4963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Serifada clássica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953512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Tradição, confiança e qualidade; sensação de produto artesanal e consolidado.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074920" cy="1874520"/>
          </a:xfrm>
          <a:prstGeom prst="rect">
            <a:avLst/>
          </a:prstGeom>
          <a:solidFill>
            <a:srgbClr val="2B1D14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4599432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4507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Serifada fina e delicada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965192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Exclusividade e refinamento, sobretudo com bom espaçamento entre letras.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4343400"/>
            <a:ext cx="5074920" cy="1874520"/>
          </a:xfrm>
          <a:prstGeom prst="rect">
            <a:avLst/>
          </a:prstGeom>
          <a:solidFill>
            <a:srgbClr val="2B1D14"/>
          </a:solidFill>
          <a:ln/>
        </p:spPr>
      </p:sp>
      <p:sp>
        <p:nvSpPr>
          <p:cNvPr id="18" name="Shape 16"/>
          <p:cNvSpPr/>
          <p:nvPr/>
        </p:nvSpPr>
        <p:spPr>
          <a:xfrm>
            <a:off x="6291072" y="4599432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4507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Serifada com tracking alto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965192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premium e minimalista — a marca parece menos comercial e mais exclusiva.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CACAU RARO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50" kern="0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e variações estudadas</a:t>
            </a:r>
            <a:endParaRPr lang="en-US" sz="3400" dirty="0"/>
          </a:p>
        </p:txBody>
      </p:sp>
      <p:pic>
        <p:nvPicPr>
          <p:cNvPr id="4" name="Image 0" descr="/root/.claude/uploads/de37aeae-c07f-5401-92c3-714ed4fdd346/79f8e012-im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5577840" cy="32186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846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 principal — Caixa-livro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19379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como um estojo; os chocolates repousam sobre bandeja de papel kraft, tornando a apresentação mais cuidadosa e ritualística.</a:t>
            </a:r>
            <a:endParaRPr lang="en-US" sz="1150" dirty="0"/>
          </a:p>
        </p:txBody>
      </p:sp>
      <p:pic>
        <p:nvPicPr>
          <p:cNvPr id="7" name="Image 1" descr="/root/.claude/uploads/de37aeae-c07f-5401-92c3-714ed4fdd346/86f5b12e-imag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554480"/>
            <a:ext cx="5029200" cy="1508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37960" y="3108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Opção 1 — Caixa Gaveta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537960" y="34015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de abrir a embalagem faz parte do produto, despertando curiosidade e aumentando a percepção de valor.</a:t>
            </a:r>
            <a:endParaRPr lang="en-US" sz="1050" dirty="0"/>
          </a:p>
        </p:txBody>
      </p:sp>
      <p:pic>
        <p:nvPicPr>
          <p:cNvPr id="10" name="Image 2" descr="/root/.claude/uploads/de37aeae-c07f-5401-92c3-714ed4fdd346/b1c98ad1-imag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7960" y="3995928"/>
            <a:ext cx="5029200" cy="1508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37960" y="5550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Opção 3 — Caixa com Janela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537960" y="58430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janela discreta revela parte do chocolate, despertando curiosidade e o desejo de experimentar.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CACAU RARO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DO CONSUMIDOR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50" kern="0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Sensações e associações desejadas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embalagem foi desenhada para provocar, em sequência, estas reações no consumidor: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42032" cy="1417320"/>
          </a:xfrm>
          <a:prstGeom prst="rect">
            <a:avLst/>
          </a:prstGeom>
          <a:solidFill>
            <a:srgbClr val="17110D"/>
          </a:solidFill>
          <a:ln/>
        </p:spPr>
      </p:sp>
      <p:sp>
        <p:nvSpPr>
          <p:cNvPr id="6" name="Shape 4"/>
          <p:cNvSpPr/>
          <p:nvPr/>
        </p:nvSpPr>
        <p:spPr>
          <a:xfrm>
            <a:off x="1810512" y="2542032"/>
            <a:ext cx="201168" cy="2011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0779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Exclusividade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01568" y="2286000"/>
            <a:ext cx="2542032" cy="1417320"/>
          </a:xfrm>
          <a:prstGeom prst="rect">
            <a:avLst/>
          </a:prstGeom>
          <a:solidFill>
            <a:srgbClr val="17110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542032"/>
            <a:ext cx="201168" cy="2011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8728" y="290779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Tradição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63056" y="2286000"/>
            <a:ext cx="2542032" cy="1417320"/>
          </a:xfrm>
          <a:prstGeom prst="rect">
            <a:avLst/>
          </a:prstGeom>
          <a:solidFill>
            <a:srgbClr val="17110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33488" y="2542032"/>
            <a:ext cx="201168" cy="2011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0216" y="290779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Sofisticação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24544" y="2286000"/>
            <a:ext cx="2542032" cy="1417320"/>
          </a:xfrm>
          <a:prstGeom prst="rect">
            <a:avLst/>
          </a:prstGeom>
          <a:solidFill>
            <a:srgbClr val="17110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4976" y="2542032"/>
            <a:ext cx="201168" cy="2011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61704" y="290779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 de abertura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959352"/>
            <a:ext cx="2542032" cy="1417320"/>
          </a:xfrm>
          <a:prstGeom prst="rect">
            <a:avLst/>
          </a:prstGeom>
          <a:solidFill>
            <a:srgbClr val="17110D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4215384"/>
            <a:ext cx="201168" cy="2011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581144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Artesanalidade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01568" y="3959352"/>
            <a:ext cx="2542032" cy="1417320"/>
          </a:xfrm>
          <a:prstGeom prst="rect">
            <a:avLst/>
          </a:prstGeom>
          <a:solidFill>
            <a:srgbClr val="17110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4215384"/>
            <a:ext cx="201168" cy="2011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38728" y="4581144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63056" y="3959352"/>
            <a:ext cx="2542032" cy="1417320"/>
          </a:xfrm>
          <a:prstGeom prst="rect">
            <a:avLst/>
          </a:prstGeom>
          <a:solidFill>
            <a:srgbClr val="17110D"/>
          </a:solidFill>
          <a:ln/>
        </p:spPr>
      </p:sp>
      <p:sp>
        <p:nvSpPr>
          <p:cNvPr id="24" name="Shape 22"/>
          <p:cNvSpPr/>
          <p:nvPr/>
        </p:nvSpPr>
        <p:spPr>
          <a:xfrm>
            <a:off x="7333488" y="4215384"/>
            <a:ext cx="201168" cy="2011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0216" y="4581144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Desejo de descoberta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24544" y="3959352"/>
            <a:ext cx="2542032" cy="1417320"/>
          </a:xfrm>
          <a:prstGeom prst="rect">
            <a:avLst/>
          </a:prstGeom>
          <a:solidFill>
            <a:srgbClr val="17110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94976" y="4215384"/>
            <a:ext cx="201168" cy="2011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61704" y="4581144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Confiança na qualidade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CACAU RARO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ESTRATÉGICA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50" kern="0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embalagem influencia o consumidor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ect">
            <a:avLst/>
          </a:prstGeom>
          <a:solidFill>
            <a:srgbClr val="2B1D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20391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Percepção do produto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98648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paleta escura, o acabamento soft touch e o hot stamping dourado posicionam o chocolate como item de luxo antes mesmo de ser aberto — peso e textura comunicam qualidade tátil.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257800" cy="1965960"/>
          </a:xfrm>
          <a:prstGeom prst="rect">
            <a:avLst/>
          </a:prstGeom>
          <a:solidFill>
            <a:srgbClr val="2B1D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28232" y="20391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Interpretação da qualidade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898648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minimalismo na frente da caixa e a tipografia serifada fina remetem a códigos visuais de vinhos e destilados premium, transferindo essa percepção de qualidade por associação.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257800" cy="1965960"/>
          </a:xfrm>
          <a:prstGeom prst="rect">
            <a:avLst/>
          </a:prstGeom>
          <a:solidFill>
            <a:srgbClr val="2B1D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42336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72744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Lembrança da marca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093208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“livro” é incomum na categoria de chocolates e cria distintividade visual; a semente de cacau dourada funciona como âncora mnemônica simples e repetível.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257800" cy="1965960"/>
          </a:xfrm>
          <a:prstGeom prst="rect">
            <a:avLst/>
          </a:prstGeom>
          <a:solidFill>
            <a:srgbClr val="2B1D1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42336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472744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Atração à compra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5093208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caixas gaveta e com janela transformam a compra em experiência de descoberta, e o cartão interno (“O verdadeiro chocolate nasce da terra, do tempo e do cuidado”) cria conexão emocional que justifica o preço premium.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CACAU RARO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de37aeae-c07f-5401-92c3-714ed4fdd346/d57dab71-im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92040" y="0"/>
            <a:ext cx="411480" cy="6858000"/>
          </a:xfrm>
          <a:prstGeom prst="rect">
            <a:avLst/>
          </a:prstGeom>
          <a:solidFill>
            <a:srgbClr val="17110D">
              <a:alpha val="8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5778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532120" y="237744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Embalagem como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 experiência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marca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4434840"/>
            <a:ext cx="5806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9B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unir material, cor, formato, acabamento e tipografia em torno de um único conceito — exclusividade com tradição — a proposta transforma a caixa Cacau Raro em argumento de venda: o consumidor decide que o chocolate é premium antes de provar o primeiro pedaço.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6172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CACAU RARO  ·  COLEÇÃO ORIGEM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2026-09-15T02:03:54Z</dcterms:created>
  <dcterms:modified xsi:type="dcterms:W3CDTF">2026-09-15T02:03:54Z</dcterms:modified>
</cp:coreProperties>
</file>